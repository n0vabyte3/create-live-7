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616" autoAdjust="0"/>
  </p:normalViewPr>
  <p:slideViewPr>
    <p:cSldViewPr snapToGrid="0">
      <p:cViewPr>
        <p:scale>
          <a:sx n="62" d="100"/>
          <a:sy n="62" d="100"/>
        </p:scale>
        <p:origin x="828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2A84A-87EC-49B1-8EE1-DF0BF244BF80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1E4F-D86A-4BAF-B5E3-8B676BF80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292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Hyperbel: 	Übertriebene Darstellung von Verlust durch „ewig“ oder „allein“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de-DE" dirty="0"/>
              <a:t>Kontrast: 	Kontrast zwischen dem was mal war und was heute ist</a:t>
            </a:r>
          </a:p>
          <a:p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Anapher + Parallelismus: 	Wiederholung von „Und du…“ sowie „Und ich sag..“, zudem ist im Refrain immer der selbe Satzaufbau zu erkennen.</a:t>
            </a:r>
            <a:endParaRPr lang="de-DE" dirty="0"/>
          </a:p>
          <a:p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Ironie: 	Selbsttäuschung und Unterdrückung des Gefühls der Einsamkeit</a:t>
            </a:r>
          </a:p>
          <a:p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B1E4F-D86A-4BAF-B5E3-8B676BF80C2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720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Hyperbel:	Wieder übertriebene Darstellung des Hasses, sowie des Verlustes</a:t>
            </a:r>
          </a:p>
          <a:p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Kontrast:  	Kontrast zwischen dem mal war und was jetzt ist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Ironie: 	Selbsttäuschung</a:t>
            </a:r>
          </a:p>
          <a:p>
            <a:endParaRPr lang="de-DE" dirty="0"/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Anapher + Parallelismus: 	Wiederholung von „Und du“, sowie ein ähnlicher Satzbau.</a:t>
            </a:r>
          </a:p>
          <a:p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Wiederholendes Muster im Song erkennbar. </a:t>
            </a:r>
            <a:endParaRPr lang="de-DE" dirty="0"/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 Songtext relativ viele Parallelismen zu erkennen Refrain und in der Bridge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B1E4F-D86A-4BAF-B5E3-8B676BF80C2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24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0DD9E-E946-66B0-AA10-8EE52EC92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121A1A-A262-0944-CAFD-BF566F188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357006-7B19-ACE8-5A5E-BCB2C625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4233F0-5781-4FEA-7159-1796303A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EE6ED9-0525-4E7C-2D6A-CCA6094E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72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CD01C-7B65-47BB-37F0-FE3C02DD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D75475-D91E-869E-1745-325A98143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BBD6F-CD3D-B651-E61E-C3BF2030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A5A96F-2CB9-7621-7891-F5EEA3A47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783D84-32DA-DDE8-774F-26F764428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40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80336-FA4A-4A62-05D9-AB464E28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D41854-5073-D678-DA73-B890CD3E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2B965E-0936-5DEA-31B8-A06E0331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D7288-95B2-E681-A480-80BFC09C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E43F22-050F-8352-7B06-9193DC75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39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41852-1EB6-CB4C-C3DC-619441C8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C0A4BB-16F6-0774-773D-AC6759331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5C03DF-D63E-841C-0F4B-337EC6980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26922B-1585-151F-003D-F74002F5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E8B09A-4DC9-62AA-4075-60F6ABE4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BC0711-F695-84F5-EFA0-6E1E2062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692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32008-EA23-8AC5-4798-C2492736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BEC041-0311-8892-0970-1AC5B7B54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000727-0C67-B21E-0FD7-CABD7D83D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054049-DC2C-82EC-219D-181858148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8434F0-34A7-E36F-D214-900EB3229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C082643-6DCF-F730-584F-91CCF35C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F1DCCA-06DB-F5DD-B6CF-5C425D9F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07450EC-D6D8-0879-4D83-AAD45F25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663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B64C3-8F9F-D20D-8779-27026FBB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5F424D-D773-BCC6-9083-0F62BE0B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07CBF4-B86A-4EEA-77AD-14D057A1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4D698E-5219-A6DC-B05F-83C8FE22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74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6F01C2-675F-B8AF-9A30-9EE671AB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3FD9447-49D9-531A-8929-31A7ADB0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7014A7-7CD9-ADDB-E9B2-F3881E9D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40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C2098-E29E-07CA-C91A-B4A71EB17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D17F84-9F59-4DE9-9531-3EC6B8F5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BC7535-FC4E-9539-15A5-BE6B561AB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0167E1-1D45-AE8F-3E73-3EA9683A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189A51-8FE4-15C9-D045-7411A2DA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FB8CA0-DFCF-E034-76E3-E583CB8A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06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08BF9-9B21-4775-894D-A6E54019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13039F-DF0A-787D-07D4-B8F1B842B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CA0ACA-0415-A084-652E-8BD1EE4E3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CB9928-A046-6845-1410-15FD60BD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19B680-3A6D-2FF4-123C-BFB90CD2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410E54-80C8-CF5B-6223-4FA38E46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97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9B695-3FF3-D6BD-EE2F-A51F7AA8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595C9C-9200-6103-91F0-6FFE539C1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DB884A-5DD4-96D4-9A19-DD28D472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51CB3-772B-1584-350F-1FDE41E5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6B1C7F-C96B-9001-5008-AA3FDAED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34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F43402-0FF6-2033-7313-207BC1272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30A1A6-3045-C0ED-18C2-CD9A3D526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123614-FB42-E7D0-1E51-502DA880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607F58-F693-6FD5-0206-91223046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23410D-9342-226A-DD33-9E35B9E1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34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9DBA2B-413F-0C70-2B41-B02B6336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2F595-6CC9-2C71-CD66-D5F2458ED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EBF378-2D2B-7B84-05CF-8B523CA49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271CD-ED65-4E93-B900-9A3946414C45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A9087-C32B-A101-A1D9-95FBE82C3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E5C1B5-E7DB-A92F-3398-61C08E545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3A820-0665-4636-90EE-58662C698C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7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DW5KbOLHPV0?feature=oembe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DD0A0-54D4-9D04-6407-4A9EFE65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5906" y="724441"/>
            <a:ext cx="6795302" cy="803953"/>
          </a:xfrm>
        </p:spPr>
        <p:txBody>
          <a:bodyPr>
            <a:normAutofit fontScale="90000"/>
          </a:bodyPr>
          <a:lstStyle/>
          <a:p>
            <a:r>
              <a:rPr lang="de-DE" sz="5400" dirty="0"/>
              <a:t>KAFFKIEZ – Nie Allein</a:t>
            </a:r>
          </a:p>
        </p:txBody>
      </p:sp>
      <p:pic>
        <p:nvPicPr>
          <p:cNvPr id="5" name="Onlinemedien 4" title="KAFFKIEZ - Nie Allein (Official Video)">
            <a:hlinkClick r:id="" action="ppaction://media"/>
            <a:extLst>
              <a:ext uri="{FF2B5EF4-FFF2-40B4-BE49-F238E27FC236}">
                <a16:creationId xmlns:a16="http://schemas.microsoft.com/office/drawing/2014/main" id="{3AB0267B-05D4-50C7-3CC3-E1D7F9C2CE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44240" y="1791378"/>
            <a:ext cx="7903520" cy="44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9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D9E1A3-EA58-73DB-2241-DDA4D59D9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1264" y="385011"/>
            <a:ext cx="4290762" cy="5483977"/>
          </a:xfrm>
        </p:spPr>
        <p:txBody>
          <a:bodyPr>
            <a:normAutofit/>
          </a:bodyPr>
          <a:lstStyle/>
          <a:p>
            <a:pPr algn="ctr"/>
            <a:endParaRPr lang="de-DE" b="1" i="0" cap="all" dirty="0">
              <a:solidFill>
                <a:srgbClr val="2F2F2F"/>
              </a:solidFill>
              <a:effectLst/>
              <a:latin typeface="Roboto Condensed" panose="020F0502020204030204" pitchFamily="2" charset="0"/>
            </a:endParaRPr>
          </a:p>
          <a:p>
            <a:pPr algn="ctr"/>
            <a:endParaRPr lang="de-DE" b="1" cap="all" dirty="0">
              <a:solidFill>
                <a:srgbClr val="2F2F2F"/>
              </a:solidFill>
              <a:latin typeface="Roboto Condensed" panose="020F0502020204030204" pitchFamily="2" charset="0"/>
            </a:endParaRPr>
          </a:p>
          <a:p>
            <a:pPr algn="ctr"/>
            <a:r>
              <a:rPr lang="de-DE" b="1" i="0" cap="all" dirty="0">
                <a:solidFill>
                  <a:srgbClr val="2F2F2F"/>
                </a:solidFill>
                <a:effectLst/>
                <a:latin typeface="Roboto Condensed" panose="020F0502020204030204" pitchFamily="2" charset="0"/>
              </a:rPr>
              <a:t>Nie allein </a:t>
            </a:r>
          </a:p>
          <a:p>
            <a:pPr algn="ctr"/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F0502020204030204" pitchFamily="2" charset="0"/>
              </a:rPr>
              <a:t>Letztens waren wir noch am Meer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Scheint </a:t>
            </a:r>
            <a:r>
              <a:rPr lang="de-DE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ewig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 lange her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effectLst/>
                <a:highlight>
                  <a:srgbClr val="00FF00"/>
                </a:highlight>
                <a:latin typeface="Roboto" panose="020F0502020204030204" pitchFamily="2" charset="0"/>
              </a:rPr>
              <a:t>Heute wünsch ich dir getrost</a:t>
            </a:r>
            <a:br>
              <a:rPr lang="de-DE" b="0" i="0" dirty="0">
                <a:effectLst/>
                <a:highlight>
                  <a:srgbClr val="FFFF00"/>
                </a:highlight>
                <a:latin typeface="Roboto" panose="020F0502020204030204" pitchFamily="2" charset="0"/>
              </a:rPr>
            </a:br>
            <a:r>
              <a:rPr lang="de-DE" b="0" i="0" dirty="0">
                <a:effectLst/>
                <a:latin typeface="Roboto" panose="020F0502020204030204" pitchFamily="2" charset="0"/>
              </a:rPr>
              <a:t>Schwarzen Schimmel auf </a:t>
            </a:r>
            <a:r>
              <a:rPr lang="de-DE" b="0" i="0" dirty="0" err="1">
                <a:effectLst/>
                <a:latin typeface="Roboto" panose="020F0502020204030204" pitchFamily="2" charset="0"/>
              </a:rPr>
              <a:t>dei′m</a:t>
            </a:r>
            <a:r>
              <a:rPr lang="de-DE" b="0" i="0" dirty="0">
                <a:effectLst/>
                <a:latin typeface="Roboto" panose="020F0502020204030204" pitchFamily="2" charset="0"/>
              </a:rPr>
              <a:t> Toast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Und dass </a:t>
            </a:r>
            <a:r>
              <a:rPr lang="de-DE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alle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 deine </a:t>
            </a:r>
            <a:r>
              <a:rPr lang="de-DE" b="0" i="0" dirty="0">
                <a:effectLst/>
                <a:highlight>
                  <a:srgbClr val="FFFF00"/>
                </a:highlight>
                <a:latin typeface="Roboto" panose="020F0502020204030204" pitchFamily="2" charset="0"/>
              </a:rPr>
              <a:t>Typen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  <a:t>Mangelhaft verhüten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  <a:t>Und du fragst mich wie sich's lebt</a:t>
            </a:r>
            <a:b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  <a:t>Und du fragst mich wie′s mir geht</a:t>
            </a:r>
            <a:b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</a:b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  <a:t>Und ich sag</a:t>
            </a:r>
            <a: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  <a:t> 1, 2, 3, 4, 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F0502020204030204" pitchFamily="2" charset="0"/>
              </a:rPr>
              <a:t>ich bin gar nicht frustriert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  <a:t>Und ich sag </a:t>
            </a:r>
            <a: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  <a:t>5, 6, 7, 8, 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F0502020204030204" pitchFamily="2" charset="0"/>
              </a:rPr>
              <a:t>bin nie alleine in der Nacht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F0502020204030204" pitchFamily="2" charset="0"/>
              </a:rPr>
              <a:t>Und ich sag </a:t>
            </a:r>
            <a: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  <a:t>1, 2, 3, 4, 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F0502020204030204" pitchFamily="2" charset="0"/>
              </a:rPr>
              <a:t>ich bin gar nicht frustriert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  <a:t>Ich sag 5, 6, 7, 8, 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F0502020204030204" pitchFamily="2" charset="0"/>
              </a:rPr>
              <a:t>bin nie alleine in der Nacht</a:t>
            </a: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br>
              <a:rPr lang="de-DE" b="0" i="0" dirty="0">
                <a:solidFill>
                  <a:srgbClr val="2F2F2F"/>
                </a:solidFill>
                <a:effectLst/>
                <a:latin typeface="Roboto" panose="020F0502020204030204" pitchFamily="2" charset="0"/>
              </a:rPr>
            </a:br>
            <a:endParaRPr lang="de-DE" b="0" i="0" dirty="0">
              <a:solidFill>
                <a:srgbClr val="2F2F2F"/>
              </a:solidFill>
              <a:effectLst/>
              <a:latin typeface="Roboto" panose="020F0502020204030204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20E6B4-CA40-FE0F-32EB-5927461356A6}"/>
              </a:ext>
            </a:extLst>
          </p:cNvPr>
          <p:cNvSpPr txBox="1"/>
          <p:nvPr/>
        </p:nvSpPr>
        <p:spPr>
          <a:xfrm>
            <a:off x="5232800" y="2470940"/>
            <a:ext cx="65278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 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Hyperbel</a:t>
            </a:r>
          </a:p>
          <a:p>
            <a:endParaRPr lang="de-DE" dirty="0"/>
          </a:p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 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00FFFF"/>
                </a:highlight>
                <a:latin typeface="+mn-lt"/>
                <a:ea typeface="+mn-ea"/>
                <a:cs typeface="+mn-cs"/>
              </a:rPr>
              <a:t>Anapher + Parallelismus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sz="1800" kern="1200" dirty="0">
                <a:solidFill>
                  <a:schemeClr val="tx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Ironie</a:t>
            </a:r>
          </a:p>
          <a:p>
            <a:pPr marL="285750" indent="-285750">
              <a:buFontTx/>
              <a:buChar char="-"/>
            </a:pPr>
            <a:endParaRPr lang="de-DE" dirty="0">
              <a:highlight>
                <a:srgbClr val="FF0000"/>
              </a:highlight>
            </a:endParaRPr>
          </a:p>
          <a:p>
            <a:pPr marL="285750" indent="-285750">
              <a:buFontTx/>
              <a:buChar char="-"/>
            </a:pPr>
            <a:r>
              <a:rPr lang="de-DE" sz="1800" kern="1200" dirty="0">
                <a:solidFill>
                  <a:schemeClr val="tx1"/>
                </a:solidFill>
                <a:highlight>
                  <a:srgbClr val="00FF00"/>
                </a:highlight>
                <a:latin typeface="+mn-lt"/>
                <a:ea typeface="+mn-ea"/>
                <a:cs typeface="+mn-cs"/>
              </a:rPr>
              <a:t>Kontrast</a:t>
            </a:r>
          </a:p>
          <a:p>
            <a:pPr marL="285750" indent="-285750">
              <a:buFontTx/>
              <a:buChar char="-"/>
            </a:pPr>
            <a:endParaRPr lang="de-DE" dirty="0">
              <a:highlight>
                <a:srgbClr val="FF0000"/>
              </a:highlight>
            </a:endParaRPr>
          </a:p>
          <a:p>
            <a:pPr marL="285750" indent="-285750">
              <a:buFontTx/>
              <a:buChar char="-"/>
            </a:pPr>
            <a:endParaRPr lang="de-DE" sz="1800" kern="1200" dirty="0">
              <a:solidFill>
                <a:schemeClr val="tx1"/>
              </a:solidFill>
              <a:highlight>
                <a:srgbClr val="FF0000"/>
              </a:highlight>
              <a:latin typeface="+mn-lt"/>
              <a:ea typeface="+mn-ea"/>
              <a:cs typeface="+mn-cs"/>
            </a:endParaRPr>
          </a:p>
          <a:p>
            <a:endParaRPr lang="de-DE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13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D9E1A3-EA58-73DB-2241-DDA4D59D9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1264" y="385011"/>
            <a:ext cx="4290762" cy="5483977"/>
          </a:xfrm>
        </p:spPr>
        <p:txBody>
          <a:bodyPr>
            <a:normAutofit/>
          </a:bodyPr>
          <a:lstStyle/>
          <a:p>
            <a:pPr algn="ctr"/>
            <a:endParaRPr lang="de-DE" b="1" i="0" cap="all" dirty="0">
              <a:solidFill>
                <a:srgbClr val="2F2F2F"/>
              </a:solidFill>
              <a:effectLst/>
              <a:latin typeface="Roboto Condensed" panose="020F0502020204030204" pitchFamily="2" charset="0"/>
            </a:endParaRPr>
          </a:p>
          <a:p>
            <a:pPr algn="ctr"/>
            <a:endParaRPr lang="de-DE" b="1" cap="all" dirty="0">
              <a:solidFill>
                <a:srgbClr val="2F2F2F"/>
              </a:solidFill>
              <a:latin typeface="Roboto Condensed" panose="020F0502020204030204" pitchFamily="2" charset="0"/>
            </a:endParaRPr>
          </a:p>
          <a:p>
            <a:pPr algn="ctr"/>
            <a:r>
              <a:rPr lang="de-DE" b="1" i="0" cap="all" dirty="0">
                <a:solidFill>
                  <a:srgbClr val="2F2F2F"/>
                </a:solidFill>
                <a:effectLst/>
                <a:latin typeface="Roboto Condensed" panose="020F0502020204030204" pitchFamily="2" charset="0"/>
              </a:rPr>
              <a:t>Nie allein </a:t>
            </a:r>
          </a:p>
          <a:p>
            <a:pPr algn="ctr"/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00000000000000000" pitchFamily="2" charset="0"/>
              </a:rPr>
              <a:t>Letztens </a:t>
            </a:r>
            <a:r>
              <a:rPr lang="de-DE" b="0" i="0" dirty="0" err="1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00000000000000000" pitchFamily="2" charset="0"/>
              </a:rPr>
              <a:t>hab'n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00000000000000000" pitchFamily="2" charset="0"/>
              </a:rPr>
              <a:t> wir noch gelacht</a:t>
            </a:r>
            <a:br>
              <a:rPr lang="de-DE" dirty="0">
                <a:highlight>
                  <a:srgbClr val="00FF00"/>
                </a:highlight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Und </a:t>
            </a:r>
            <a:r>
              <a:rPr lang="de-DE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alles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 zusammen gemacht</a:t>
            </a:r>
            <a:br>
              <a:rPr lang="de-DE" dirty="0">
                <a:highlight>
                  <a:srgbClr val="FFFF00"/>
                </a:highlight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00000000000000000" pitchFamily="2" charset="0"/>
              </a:rPr>
              <a:t>Heute stehst du einfach hier</a:t>
            </a:r>
            <a:br>
              <a:rPr lang="de-DE" dirty="0">
                <a:highlight>
                  <a:srgbClr val="00FF00"/>
                </a:highlight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00"/>
                </a:highlight>
                <a:latin typeface="Roboto" panose="02000000000000000000" pitchFamily="2" charset="0"/>
              </a:rPr>
              <a:t>Mit 'nem andern Typen in der Tür</a:t>
            </a:r>
            <a:br>
              <a:rPr lang="de-DE" dirty="0">
                <a:highlight>
                  <a:srgbClr val="00FF00"/>
                </a:highlight>
              </a:rPr>
            </a:br>
            <a:br>
              <a:rPr lang="de-DE" dirty="0">
                <a:highlight>
                  <a:srgbClr val="00FF00"/>
                </a:highlight>
              </a:rPr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00000000000000000" pitchFamily="2" charset="0"/>
              </a:rPr>
              <a:t>Und ich lach dir ins Gesicht</a:t>
            </a:r>
            <a:br>
              <a:rPr lang="de-DE" dirty="0"/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Wünsch dir hinterrücks die Gicht</a:t>
            </a:r>
            <a:br>
              <a:rPr lang="de-DE" dirty="0"/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00000000000000000" pitchFamily="2" charset="0"/>
              </a:rPr>
              <a:t>Ja, ich weiß, ich bin allein</a:t>
            </a:r>
            <a:br>
              <a:rPr lang="de-DE" dirty="0"/>
            </a:br>
            <a:r>
              <a:rPr lang="de-DE" b="0" i="0" dirty="0" err="1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00000000000000000" pitchFamily="2" charset="0"/>
              </a:rPr>
              <a:t>Gesteh′s</a:t>
            </a:r>
            <a:r>
              <a:rPr lang="de-DE" b="0" i="0" dirty="0">
                <a:solidFill>
                  <a:srgbClr val="2F2F2F"/>
                </a:solidFill>
                <a:effectLst/>
                <a:highlight>
                  <a:srgbClr val="FF0000"/>
                </a:highlight>
                <a:latin typeface="Roboto" panose="02000000000000000000" pitchFamily="2" charset="0"/>
              </a:rPr>
              <a:t> mir einfach nur nicht ein</a:t>
            </a:r>
            <a:br>
              <a:rPr lang="de-DE" dirty="0"/>
            </a:br>
            <a:br>
              <a:rPr lang="de-DE" dirty="0"/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00000000000000000" pitchFamily="2" charset="0"/>
              </a:rPr>
              <a:t>Und ich würd gern mit dir gehen</a:t>
            </a:r>
            <a:br>
              <a:rPr lang="de-DE" dirty="0"/>
            </a:br>
            <a:r>
              <a:rPr lang="de-DE" b="0" i="0" dirty="0">
                <a:solidFill>
                  <a:srgbClr val="2F2F2F"/>
                </a:solidFill>
                <a:effectLst/>
                <a:latin typeface="Roboto" panose="02000000000000000000" pitchFamily="2" charset="0"/>
              </a:rPr>
              <a:t>Dich einfach wiedersehen</a:t>
            </a:r>
            <a:br>
              <a:rPr lang="de-DE" dirty="0"/>
            </a:br>
            <a:br>
              <a:rPr lang="de-DE" dirty="0"/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00000000000000000" pitchFamily="2" charset="0"/>
              </a:rPr>
              <a:t>Und du fragst mich wie sich′s lebt</a:t>
            </a:r>
            <a:br>
              <a:rPr lang="de-DE" dirty="0">
                <a:highlight>
                  <a:srgbClr val="00FFFF"/>
                </a:highlight>
              </a:rPr>
            </a:br>
            <a:r>
              <a:rPr lang="de-DE" b="0" i="0" dirty="0">
                <a:solidFill>
                  <a:srgbClr val="2F2F2F"/>
                </a:solidFill>
                <a:effectLst/>
                <a:highlight>
                  <a:srgbClr val="00FFFF"/>
                </a:highlight>
                <a:latin typeface="Roboto" panose="02000000000000000000" pitchFamily="2" charset="0"/>
              </a:rPr>
              <a:t>Und du fragst mich wie's mir geht</a:t>
            </a:r>
            <a:endParaRPr lang="de-DE" b="0" i="0" dirty="0">
              <a:solidFill>
                <a:srgbClr val="2F2F2F"/>
              </a:solidFill>
              <a:effectLst/>
              <a:highlight>
                <a:srgbClr val="00FFFF"/>
              </a:highlight>
              <a:latin typeface="Roboto" panose="020F0502020204030204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20E6B4-CA40-FE0F-32EB-5927461356A6}"/>
              </a:ext>
            </a:extLst>
          </p:cNvPr>
          <p:cNvSpPr txBox="1"/>
          <p:nvPr/>
        </p:nvSpPr>
        <p:spPr>
          <a:xfrm>
            <a:off x="5156698" y="1972837"/>
            <a:ext cx="6527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Hyperbel</a:t>
            </a:r>
          </a:p>
          <a:p>
            <a:endParaRPr lang="de-DE" dirty="0"/>
          </a:p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00FFFF"/>
                </a:highlight>
                <a:latin typeface="+mn-lt"/>
                <a:ea typeface="+mn-ea"/>
                <a:cs typeface="+mn-cs"/>
              </a:rPr>
              <a:t>Anapher  + Parallelismus</a:t>
            </a:r>
          </a:p>
          <a:p>
            <a:endParaRPr lang="de-DE" dirty="0"/>
          </a:p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Ironie</a:t>
            </a:r>
          </a:p>
          <a:p>
            <a:endParaRPr lang="de-DE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de-DE" sz="1800" kern="1200" dirty="0">
                <a:solidFill>
                  <a:schemeClr val="tx1"/>
                </a:solidFill>
                <a:highlight>
                  <a:srgbClr val="00FF00"/>
                </a:highlight>
                <a:latin typeface="+mn-lt"/>
                <a:ea typeface="+mn-ea"/>
                <a:cs typeface="+mn-cs"/>
              </a:rPr>
              <a:t>Kontrast</a:t>
            </a:r>
          </a:p>
          <a:p>
            <a:endParaRPr lang="de-DE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95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Breitbild</PresentationFormat>
  <Paragraphs>43</Paragraphs>
  <Slides>3</Slides>
  <Notes>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Roboto Condensed</vt:lpstr>
      <vt:lpstr>Office</vt:lpstr>
      <vt:lpstr>KAFFKIEZ – Nie Allein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Nicklas Schmidt</dc:creator>
  <cp:lastModifiedBy>Nicklas Schmidt</cp:lastModifiedBy>
  <cp:revision>1</cp:revision>
  <dcterms:created xsi:type="dcterms:W3CDTF">2026-04-24T06:17:53Z</dcterms:created>
  <dcterms:modified xsi:type="dcterms:W3CDTF">2026-04-24T06:55:42Z</dcterms:modified>
</cp:coreProperties>
</file>